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B41"/>
    <a:srgbClr val="10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81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94FB-6420-156E-B6C6-3644DEA6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C17B1-454D-F248-DD31-1D78BF95B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2F3CB-6022-481C-8C16-EAB46771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2B74-6414-E858-D211-123F697B1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11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0080" y="0"/>
            <a:ext cx="3931920" cy="6858000"/>
          </a:xfrm>
          <a:prstGeom prst="rect">
            <a:avLst/>
          </a:prstGeom>
          <a:solidFill>
            <a:srgbClr val="072E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09728" cy="228600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88336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Сервисная платформа хранения</a:t>
            </a:r>
            <a:endParaRPr lang="en-US" sz="3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данных о медицинских препаратах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97280" y="54315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8FB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400" b="1" dirty="0">
                <a:solidFill>
                  <a:srgbClr val="8FB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ru-RU" sz="1400" b="1" dirty="0" err="1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Белявцев</a:t>
            </a:r>
            <a:r>
              <a:rPr lang="ru-RU" sz="1400" b="1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Владислав Сергеевич, МПМ-122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7972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 </a:t>
            </a:r>
            <a:r>
              <a:rPr lang="ru-RU" sz="1400" b="1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преподаватель Костоев А.Т.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6263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</a:t>
            </a:r>
            <a:r>
              <a:rPr lang="en-US" sz="14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31680" y="2688336"/>
            <a:ext cx="1188720" cy="1188720"/>
          </a:xfrm>
          <a:prstGeom prst="ellipse">
            <a:avLst/>
          </a:prstGeom>
          <a:solidFill>
            <a:srgbClr val="0E959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на длительной терапии </a:t>
            </a:r>
            <a:r>
              <a:rPr lang="en-US" sz="180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</a:t>
            </a:r>
            <a:r>
              <a:rPr lang="en-US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</a:t>
            </a:r>
            <a:r>
              <a:rPr lang="ru-RU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80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множество</a:t>
            </a:r>
            <a:r>
              <a:rPr lang="en-US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r>
              <a:rPr lang="en-US" sz="180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 здоровье: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8176" y="2404872"/>
            <a:ext cx="1005840" cy="100584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7" name="Image 0" descr="/home/claude/icons/ic_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6563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2220" y="33878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</a:t>
            </a:r>
            <a:r>
              <a:rPr lang="ru-RU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препаратов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373075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</a:t>
            </a: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расписанию каждый день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21488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2404872"/>
            <a:ext cx="1005840" cy="100584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2" name="Image 1" descr="/home/claude/icons/ic_no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26563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4472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 err="1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dirty="0" err="1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побоч</a:t>
            </a:r>
            <a:r>
              <a:rPr lang="ru-RU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93592" y="37764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</a:t>
            </a:r>
            <a:r>
              <a:rPr lang="en-US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когда проявилось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1488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86016" y="2404872"/>
            <a:ext cx="1005840" cy="100584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7" name="Image 2" descr="/home/claude/icons/ic_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265633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4472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цикла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382512" y="37764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лияет</a:t>
            </a:r>
            <a:r>
              <a:rPr lang="en-US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состояние и терапию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21488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74936" y="2404872"/>
            <a:ext cx="1005840" cy="100584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2" name="Image 3" descr="/home/claude/icons/ic_do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396" y="265633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4472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для врача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71432" y="37764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ыгрузка</a:t>
            </a:r>
            <a:r>
              <a:rPr lang="en-US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ru-RU" sz="11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A3B40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4617720"/>
            <a:ext cx="128016" cy="14173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27" name="Text 21"/>
          <p:cNvSpPr/>
          <p:nvPr/>
        </p:nvSpPr>
        <p:spPr>
          <a:xfrm>
            <a:off x="891540" y="5074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Нуж</a:t>
            </a:r>
            <a:r>
              <a:rPr lang="ru-RU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</a:t>
            </a: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над</a:t>
            </a:r>
            <a:r>
              <a:rPr lang="ru-RU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</a:t>
            </a:r>
            <a:r>
              <a:rPr lang="en-US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жн</a:t>
            </a:r>
            <a:r>
              <a:rPr lang="ru-RU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ая</a:t>
            </a: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многопользовательск</a:t>
            </a:r>
            <a:r>
              <a:rPr lang="ru-RU" sz="2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ая</a:t>
            </a:r>
            <a:r>
              <a:rPr lang="ru-RU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платформа</a:t>
            </a:r>
            <a:endParaRPr lang="en-US" sz="2300" dirty="0"/>
          </a:p>
        </p:txBody>
      </p:sp>
      <p:sp>
        <p:nvSpPr>
          <p:cNvPr id="29" name="Text 23"/>
          <p:cNvSpPr/>
          <p:nvPr/>
        </p:nvSpPr>
        <p:spPr>
          <a:xfrm>
            <a:off x="11257168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Существующие решения и их ограничения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93392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93392"/>
            <a:ext cx="109728" cy="1078992"/>
          </a:xfrm>
          <a:prstGeom prst="rect">
            <a:avLst/>
          </a:prstGeom>
          <a:solidFill>
            <a:srgbClr val="C292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трекеры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96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MyTherapy, Medisafe, Round Health</a:t>
            </a:r>
            <a:endParaRPr lang="en-US" sz="1200" dirty="0"/>
          </a:p>
        </p:txBody>
      </p:sp>
      <p:pic>
        <p:nvPicPr>
          <p:cNvPr id="8" name="Image 0" descr="/home/claude/icons/ic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3865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34840" y="2103120"/>
            <a:ext cx="6903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одному устройству, нет каталога под диагноз, слабый экспорт врачу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3218688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218688"/>
            <a:ext cx="109728" cy="1078992"/>
          </a:xfrm>
          <a:prstGeom prst="rect">
            <a:avLst/>
          </a:prstGeom>
          <a:solidFill>
            <a:srgbClr val="C2922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Госсистемы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ЕМИАС, электронные карты</a:t>
            </a:r>
            <a:endParaRPr lang="en-US" sz="1200" dirty="0"/>
          </a:p>
        </p:txBody>
      </p:sp>
      <p:pic>
        <p:nvPicPr>
          <p:cNvPr id="14" name="Image 1" descr="/home/claude/icons/ic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118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3328416"/>
            <a:ext cx="6903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</a:t>
            </a:r>
            <a:r>
              <a:rPr lang="en-US" sz="145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</a:t>
            </a: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ru-RU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ru-RU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450" dirty="0" err="1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</a:t>
            </a: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про личный самоконтроль пациента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40080" y="4443984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4443984"/>
            <a:ext cx="109728" cy="1078992"/>
          </a:xfrm>
          <a:prstGeom prst="rect">
            <a:avLst/>
          </a:prstGeom>
          <a:solidFill>
            <a:srgbClr val="C2922E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4608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платформы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14400" y="5047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OpenMRS</a:t>
            </a:r>
            <a:endParaRPr lang="en-US" sz="1200" dirty="0"/>
          </a:p>
        </p:txBody>
      </p:sp>
      <p:pic>
        <p:nvPicPr>
          <p:cNvPr id="20" name="Image 2" descr="/home/claude/icons/ic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83717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34840" y="4553712"/>
            <a:ext cx="6903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Мощные, но тяжёлые и избыточные для задачи самоконтроля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5655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6611" y="85267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0642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A3B40"/>
          </a:solidFill>
          <a:ln/>
        </p:spPr>
      </p:sp>
      <p:sp>
        <p:nvSpPr>
          <p:cNvPr id="5" name="Text 3"/>
          <p:cNvSpPr/>
          <p:nvPr/>
        </p:nvSpPr>
        <p:spPr>
          <a:xfrm>
            <a:off x="966149" y="1152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6149" y="14721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реализовать сервисну</a:t>
            </a:r>
            <a:r>
              <a:rPr lang="ru-R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платформу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хранения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препаратах</a:t>
            </a:r>
            <a:r>
              <a:rPr lang="ru-R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обеспечивающую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ую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горизонтальном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113" y="228665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951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957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957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17320" y="27957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2" name="Image 0" descr="/home/claude/icons/ic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87807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11680" y="26951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ровести анализ предметной области, сформулировать функциональные и нефункциональные требования к платформе</a:t>
            </a:r>
            <a:r>
              <a:rPr lang="ru-RU" sz="1550" dirty="0">
                <a:effectLst/>
              </a:rPr>
              <a:t> 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3809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34815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4815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417320" y="34815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8" name="Image 1" descr="/home/claude/icons/ic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3563874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11680" y="33809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О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босновать выбор архитектурного стиля, технологического стека, протокола взаимодействия и модели хранения данных сравнив разные подходы и способы работы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40080" y="40667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" y="41673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41673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417320" y="41673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4" name="Image 2" descr="/home/claude/icons/ic_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249674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11680" y="40667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С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проектировать модель предметной области и программный интерфейс платформы, включая разбиение на сервисы, контракты взаимодействия и модель ошибок</a:t>
            </a:r>
            <a:r>
              <a:rPr lang="ru-RU" sz="1550" dirty="0">
                <a:effectLst/>
              </a:rPr>
              <a:t> 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640080" y="47525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2960" y="48531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48531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1417320" y="48531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30" name="Image 3" descr="/home/claude/icons/ic_shield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16" y="4935474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011680" y="47525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Р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еализовать прикладную логику платформы, средства обеспечения безопасности, надежную доставку служебных сообщений и кэширование данных в распределенной среде</a:t>
            </a:r>
            <a:r>
              <a:rPr lang="ru-RU" sz="1550" dirty="0">
                <a:effectLst/>
              </a:rPr>
              <a:t> </a:t>
            </a:r>
            <a:endParaRPr lang="en-US" sz="1550" dirty="0"/>
          </a:p>
        </p:txBody>
      </p:sp>
      <p:sp>
        <p:nvSpPr>
          <p:cNvPr id="32" name="Shape 26"/>
          <p:cNvSpPr/>
          <p:nvPr/>
        </p:nvSpPr>
        <p:spPr>
          <a:xfrm>
            <a:off x="640080" y="54383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22960" y="55389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5389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417320" y="55389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36" name="Image 4" descr="/home/claude/icons/ic_depl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5621274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011680" y="54383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О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беспечить контейнеризацию, </a:t>
            </a:r>
            <a:r>
              <a:rPr lang="ru-RU" sz="155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оркестрацию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и горизонтальное </a:t>
            </a:r>
            <a:r>
              <a:rPr lang="ru-RU" sz="155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автомасштабирование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платформы, а также обновление без простоя</a:t>
            </a:r>
            <a:r>
              <a:rPr lang="ru-RU" sz="1550" dirty="0">
                <a:effectLst/>
              </a:rPr>
              <a:t> 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11338560" y="634822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1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64DD2EE6-A12D-5411-ADC3-C133880FD43F}"/>
              </a:ext>
            </a:extLst>
          </p:cNvPr>
          <p:cNvSpPr/>
          <p:nvPr/>
        </p:nvSpPr>
        <p:spPr>
          <a:xfrm>
            <a:off x="640080" y="612419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3E7E39C9-23B6-4DE0-3D41-AA5F84C406E6}"/>
              </a:ext>
            </a:extLst>
          </p:cNvPr>
          <p:cNvSpPr/>
          <p:nvPr/>
        </p:nvSpPr>
        <p:spPr>
          <a:xfrm>
            <a:off x="822960" y="622477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E018134E-6B85-1EAE-EF9E-961FD2A8E760}"/>
              </a:ext>
            </a:extLst>
          </p:cNvPr>
          <p:cNvSpPr/>
          <p:nvPr/>
        </p:nvSpPr>
        <p:spPr>
          <a:xfrm>
            <a:off x="822960" y="62247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33C27DE0-5FDB-862B-1772-A75BDDE5CE72}"/>
              </a:ext>
            </a:extLst>
          </p:cNvPr>
          <p:cNvSpPr/>
          <p:nvPr/>
        </p:nvSpPr>
        <p:spPr>
          <a:xfrm>
            <a:off x="1417320" y="6224778"/>
            <a:ext cx="365760" cy="36576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43" name="Image 0" descr="/home/claude/icons/ic_arch.png">
            <a:extLst>
              <a:ext uri="{FF2B5EF4-FFF2-40B4-BE49-F238E27FC236}">
                <a16:creationId xmlns:a16="http://schemas.microsoft.com/office/drawing/2014/main" id="{F5471518-729C-989F-CB2A-1F924F78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6307074"/>
            <a:ext cx="201168" cy="201168"/>
          </a:xfrm>
          <a:prstGeom prst="rect">
            <a:avLst/>
          </a:prstGeom>
        </p:spPr>
      </p:pic>
      <p:sp>
        <p:nvSpPr>
          <p:cNvPr id="44" name="Text 10">
            <a:extLst>
              <a:ext uri="{FF2B5EF4-FFF2-40B4-BE49-F238E27FC236}">
                <a16:creationId xmlns:a16="http://schemas.microsoft.com/office/drawing/2014/main" id="{7D150540-6646-A574-2540-7FC323D96D81}"/>
              </a:ext>
            </a:extLst>
          </p:cNvPr>
          <p:cNvSpPr/>
          <p:nvPr/>
        </p:nvSpPr>
        <p:spPr>
          <a:xfrm>
            <a:off x="2011680" y="612419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В</a:t>
            </a:r>
            <a:r>
              <a:rPr lang="ru-RU" sz="155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ыполнить модульное и интеграционное тестирование ключевых компонентов и определить методику проверки масштабируемости платформы под нагрузкой</a:t>
            </a:r>
            <a:r>
              <a:rPr lang="ru-RU" sz="1550" dirty="0">
                <a:effectLst/>
              </a:rPr>
              <a:t> 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платформы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5" name="Text 2"/>
          <p:cNvSpPr/>
          <p:nvPr/>
        </p:nvSpPr>
        <p:spPr>
          <a:xfrm>
            <a:off x="8517636" y="22174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17636" y="2628900"/>
            <a:ext cx="502920" cy="5029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7" name="Image 1" descr="/home/claude/icons/ic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337" y="274960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57716" y="26106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A4D52"/>
                </a:solidFill>
                <a:latin typeface="Calibri" pitchFamily="34" charset="0"/>
                <a:cs typeface="Calibri" pitchFamily="34" charset="-120"/>
              </a:rPr>
              <a:t>.Net</a:t>
            </a:r>
            <a:r>
              <a:rPr lang="en-US" sz="1350" b="1" dirty="0">
                <a:solidFill>
                  <a:srgbClr val="0A4D52"/>
                </a:solidFill>
                <a:latin typeface="Calibri" pitchFamily="34" charset="0"/>
                <a:cs typeface="Calibri" pitchFamily="34" charset="-120"/>
              </a:rPr>
              <a:t> 10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157716" y="28849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E7B7C"/>
                </a:solidFill>
                <a:latin typeface="Calibri" pitchFamily="34" charset="0"/>
                <a:cs typeface="Calibri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17636" y="3342132"/>
            <a:ext cx="502920" cy="5029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1" name="Image 2" descr="/home/claude/icons/ic_re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337" y="3462833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57716" y="33238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157716" y="35981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1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бщее</a:t>
            </a:r>
            <a:r>
              <a:rPr lang="en-US" sz="11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состояние всех копий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17636" y="4055364"/>
            <a:ext cx="502920" cy="5029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5" name="Image 3" descr="/home/claude/icon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337" y="4176065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57716" y="40370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9157716" y="43113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1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анные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17636" y="4768596"/>
            <a:ext cx="502920" cy="5029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9" name="Image 4" descr="/home/claude/icons/ic_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8337" y="4889297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57716" y="47503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Воркер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9157716" y="50246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1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исьма</a:t>
            </a:r>
            <a:r>
              <a:rPr lang="en-US" sz="11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фоновая очистка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1443716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1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6863A6-7163-5D55-8908-9599F1EB1F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29" y="1872108"/>
            <a:ext cx="6031523" cy="3988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Защита входа при нескольких репликах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28856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ru-RU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экземпляр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3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3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тчик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хранится в памяти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260604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E4F0EF"/>
          </a:solidFill>
          <a:ln w="19050">
            <a:solidFill>
              <a:srgbClr val="0E9594"/>
            </a:solidFill>
            <a:prstDash val="solid"/>
          </a:ln>
        </p:spPr>
      </p:sp>
      <p:pic>
        <p:nvPicPr>
          <p:cNvPr id="8" name="Image 0" descr="/home/claude/icons/ic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743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1720" y="3035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Счетчик</a:t>
            </a:r>
          </a:p>
        </p:txBody>
      </p:sp>
      <p:sp>
        <p:nvSpPr>
          <p:cNvPr id="10" name="Text 7"/>
          <p:cNvSpPr/>
          <p:nvPr/>
        </p:nvSpPr>
        <p:spPr>
          <a:xfrm>
            <a:off x="914400" y="37216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Лимит работает корректно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BF4E8"/>
          </a:solidFill>
          <a:ln w="15240">
            <a:solidFill>
              <a:srgbClr val="C2922E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1691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ru-RU" sz="17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экземпляров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057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9A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300" dirty="0">
                <a:solidFill>
                  <a:srgbClr val="9A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9A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каждого экземпляра –</a:t>
            </a:r>
            <a:r>
              <a:rPr lang="en-US" sz="1300" dirty="0">
                <a:solidFill>
                  <a:srgbClr val="9A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свой счётчик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260604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2922E"/>
            </a:solidFill>
            <a:prstDash val="solid"/>
          </a:ln>
        </p:spPr>
      </p:sp>
      <p:pic>
        <p:nvPicPr>
          <p:cNvPr id="15" name="Image 1" descr="/home/claude/icons/ic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1576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7512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8A6A1E"/>
                </a:solidFill>
                <a:latin typeface="Calibri" pitchFamily="34" charset="0"/>
                <a:cs typeface="Calibri" pitchFamily="34" charset="-120"/>
              </a:rPr>
              <a:t>Счетчик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0" y="260604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2922E"/>
            </a:solidFill>
            <a:prstDash val="solid"/>
          </a:ln>
        </p:spPr>
      </p:sp>
      <p:pic>
        <p:nvPicPr>
          <p:cNvPr id="18" name="Image 2" descr="/home/claude/icons/ic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157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8A6A1E"/>
                </a:solidFill>
                <a:latin typeface="Calibri" pitchFamily="34" charset="0"/>
                <a:cs typeface="Calibri" pitchFamily="34" charset="-120"/>
              </a:rPr>
              <a:t>Счетчик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784080" y="260604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2922E"/>
            </a:solidFill>
            <a:prstDash val="solid"/>
          </a:ln>
        </p:spPr>
      </p:sp>
      <p:pic>
        <p:nvPicPr>
          <p:cNvPr id="21" name="Image 3" descr="/home/claude/icons/ic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7157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408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8A6A1E"/>
                </a:solidFill>
                <a:latin typeface="Calibri" pitchFamily="34" charset="0"/>
                <a:cs typeface="Calibri" pitchFamily="34" charset="-120"/>
              </a:rPr>
              <a:t>Счетчик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537960" y="37216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0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Перебор паролей проходит мимо лимита</a:t>
            </a:r>
            <a:endParaRPr lang="en-US" sz="1450" dirty="0"/>
          </a:p>
        </p:txBody>
      </p:sp>
      <p:pic>
        <p:nvPicPr>
          <p:cNvPr id="24" name="Image 4" descr="/home/claude/icons/ic_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315968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40080" y="48920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A3B40"/>
          </a:solidFill>
          <a:ln/>
        </p:spPr>
      </p:sp>
      <p:sp>
        <p:nvSpPr>
          <p:cNvPr id="26" name="Shape 19"/>
          <p:cNvSpPr/>
          <p:nvPr/>
        </p:nvSpPr>
        <p:spPr>
          <a:xfrm>
            <a:off x="960120" y="5166360"/>
            <a:ext cx="777240" cy="7772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7" name="Image 5" descr="/home/claude/icons/ic_red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999" y="5341239"/>
            <a:ext cx="427482" cy="4274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96596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Решение: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сч</a:t>
            </a:r>
            <a:r>
              <a:rPr lang="ru-RU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ет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чик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вынесен в общий Redis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1965960" y="555955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становится </a:t>
            </a:r>
            <a:r>
              <a:rPr lang="en-US" sz="1450" dirty="0" err="1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суммарным</a:t>
            </a:r>
            <a:r>
              <a:rPr lang="en-US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r>
              <a:rPr lang="en-US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экземплярам –</a:t>
            </a:r>
            <a:r>
              <a:rPr lang="en-US" sz="1450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перебор пресекается на уровне всей системы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Над</a:t>
            </a:r>
            <a:r>
              <a:rPr lang="ru-RU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</a:t>
            </a:r>
            <a:r>
              <a:rPr lang="en-US" sz="3200" b="1" dirty="0" err="1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жная</a:t>
            </a: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доставка</a:t>
            </a: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писем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916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2918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2103120"/>
            <a:ext cx="1188720" cy="11887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7" name="Image 0" descr="/home/claude/icons/ic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2400300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14600" y="2057400"/>
            <a:ext cx="457200" cy="457200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4097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96112" y="3795011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сохраняется в БД в одной операции вместе с данными пользователя</a:t>
            </a:r>
            <a:endParaRPr lang="en-US" sz="1250" dirty="0"/>
          </a:p>
        </p:txBody>
      </p:sp>
      <p:pic>
        <p:nvPicPr>
          <p:cNvPr id="12" name="Image 1" descr="/home/claude/icons/ic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926080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4840" y="16916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34840" y="1691640"/>
            <a:ext cx="32918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0" y="2103120"/>
            <a:ext cx="1188720" cy="11887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16" name="Image 2" descr="/home/claude/icon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2400300"/>
            <a:ext cx="594360" cy="5943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6177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Фоновый разбор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690872" y="3795011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Фоновый процесс забирает накопленные письма из базы</a:t>
            </a:r>
            <a:endParaRPr lang="en-US" sz="1250" dirty="0"/>
          </a:p>
        </p:txBody>
      </p:sp>
      <p:pic>
        <p:nvPicPr>
          <p:cNvPr id="21" name="Image 3" descr="/home/claude/icons/ic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2926080"/>
            <a:ext cx="347472" cy="3474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229600" y="16916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0" y="1691640"/>
            <a:ext cx="32918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24" name="Shape 18"/>
          <p:cNvSpPr/>
          <p:nvPr/>
        </p:nvSpPr>
        <p:spPr>
          <a:xfrm>
            <a:off x="9281160" y="2103120"/>
            <a:ext cx="1188720" cy="118872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5" name="Image 4" descr="/home/claude/icons/ic_re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340" y="2400300"/>
            <a:ext cx="594360" cy="5943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0104120" y="2057400"/>
            <a:ext cx="457200" cy="457200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0104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41248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с повтором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8485632" y="3795011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через SMTP с повторами при </a:t>
            </a:r>
            <a:r>
              <a:rPr lang="en-US" sz="125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сбое</a:t>
            </a:r>
            <a:r>
              <a:rPr lang="en-US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почтового</a:t>
            </a:r>
            <a:r>
              <a:rPr lang="en-US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сервиса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A3B40"/>
          </a:solidFill>
          <a:ln/>
        </p:spPr>
      </p:sp>
      <p:sp>
        <p:nvSpPr>
          <p:cNvPr id="31" name="Shape 24"/>
          <p:cNvSpPr/>
          <p:nvPr/>
        </p:nvSpPr>
        <p:spPr>
          <a:xfrm>
            <a:off x="640080" y="4892040"/>
            <a:ext cx="128016" cy="128016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32" name="Shape 25"/>
          <p:cNvSpPr/>
          <p:nvPr/>
        </p:nvSpPr>
        <p:spPr>
          <a:xfrm>
            <a:off x="960120" y="5138928"/>
            <a:ext cx="777240" cy="7772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33" name="Image 5" descr="/home/claude/icons/ic_s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4430" y="5333238"/>
            <a:ext cx="388620" cy="3886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965960" y="489204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Письмо не теряется даже при временной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недоступности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ru-RU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почтового сервиса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Фоновые задачи без дублирования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5074920" y="1687872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A3B4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0" y="1870752"/>
            <a:ext cx="548640" cy="5486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/home/claude/icons/ic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0079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40" y="17976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Docker-образ</a:t>
            </a:r>
            <a:endParaRPr lang="en-US" sz="1300" dirty="0"/>
          </a:p>
        </p:txBody>
      </p:sp>
      <p:pic>
        <p:nvPicPr>
          <p:cNvPr id="8" name="Image 1" descr="/home/claude/icons/ic_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17520"/>
            <a:ext cx="411480" cy="411480"/>
          </a:xfrm>
          <a:prstGeom prst="rect">
            <a:avLst/>
          </a:prstGeom>
        </p:spPr>
      </p:pic>
      <p:pic>
        <p:nvPicPr>
          <p:cNvPr id="9" name="Image 2" descr="/home/claude/icons/ic_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017520"/>
            <a:ext cx="411480" cy="4114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0" y="2651760"/>
            <a:ext cx="2606040" cy="0"/>
          </a:xfrm>
          <a:prstGeom prst="line">
            <a:avLst/>
          </a:prstGeom>
          <a:noFill/>
          <a:ln w="25400">
            <a:solidFill>
              <a:srgbClr val="0E9594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80760" y="2651760"/>
            <a:ext cx="2560320" cy="0"/>
          </a:xfrm>
          <a:prstGeom prst="line">
            <a:avLst/>
          </a:prstGeom>
          <a:noFill/>
          <a:ln w="25400">
            <a:solidFill>
              <a:srgbClr val="0E959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023360" y="27066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задаётся при запуске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22960" y="352044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E4F0EF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97280" y="3721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Обработчики</a:t>
            </a:r>
            <a:r>
              <a:rPr lang="en-US" sz="16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28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</a:t>
            </a:r>
            <a:r>
              <a:rPr lang="en-US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штук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325880" y="452628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17" name="Image 3" descr="/home/claude/icons/ic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7274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48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834640" y="452628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0E9594"/>
            </a:solidFill>
            <a:prstDash val="solid"/>
          </a:ln>
        </p:spPr>
      </p:sp>
      <p:pic>
        <p:nvPicPr>
          <p:cNvPr id="20" name="Image 4" descr="/home/claude/icons/ic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472744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834640" y="5148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343400" y="452628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0E9594"/>
            </a:solidFill>
            <a:prstDash val="solid"/>
          </a:ln>
        </p:spPr>
      </p:sp>
      <p:pic>
        <p:nvPicPr>
          <p:cNvPr id="23" name="Image 5" descr="/home/claude/icons/ic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727448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343400" y="5148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400800" y="352044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0A3B40"/>
          </a:solidFill>
          <a:ln/>
        </p:spPr>
      </p:sp>
      <p:sp>
        <p:nvSpPr>
          <p:cNvPr id="26" name="Text 18"/>
          <p:cNvSpPr/>
          <p:nvPr/>
        </p:nvSpPr>
        <p:spPr>
          <a:xfrm>
            <a:off x="6675120" y="3721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Фоновый воркер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675120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i="1" dirty="0">
                <a:solidFill>
                  <a:srgbClr val="9CC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200" i="1" dirty="0" err="1">
                <a:solidFill>
                  <a:srgbClr val="9CC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овно</a:t>
            </a:r>
            <a:r>
              <a:rPr lang="en-US" sz="1200" i="1" dirty="0">
                <a:solidFill>
                  <a:srgbClr val="9CC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один на систему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8183880" y="45262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0E9594"/>
          </a:solidFill>
          <a:ln/>
        </p:spPr>
      </p:sp>
      <p:pic>
        <p:nvPicPr>
          <p:cNvPr id="29" name="Image 6" descr="/home/claude/icons/ic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470916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183880" y="5184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0080" y="58978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914400" y="5897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Фоновые операции не задваиваются</a:t>
            </a:r>
            <a:r>
              <a:rPr lang="en-US" sz="1550" dirty="0">
                <a:solidFill>
                  <a:srgbClr val="16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обработку запросов можно масштабировать отдельно</a:t>
            </a:r>
            <a:endParaRPr lang="en-US" sz="1550" dirty="0"/>
          </a:p>
        </p:txBody>
      </p:sp>
      <p:sp>
        <p:nvSpPr>
          <p:cNvPr id="33" name="Text 24"/>
          <p:cNvSpPr/>
          <p:nvPr/>
        </p:nvSpPr>
        <p:spPr>
          <a:xfrm>
            <a:off x="11438039" y="6373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</a:t>
            </a: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ru-RU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</a:t>
            </a:r>
            <a:r>
              <a:rPr lang="en-US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ru-RU" sz="3200" b="1" dirty="0">
                <a:solidFill>
                  <a:srgbClr val="0A4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0A3B40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856232"/>
            <a:ext cx="777240" cy="7772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/home/claude/icons/i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54561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73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9" name="Image 1" descr="/home/claude/icons/ic_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0632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доступа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57350" y="31135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</a:t>
            </a:r>
            <a:r>
              <a:rPr lang="en-US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доступ ~15 минут + токен обновления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2" descr="/home/claude/icons/ic_ro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148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 токенов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68780" y="4187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каждом </a:t>
            </a:r>
            <a:r>
              <a:rPr lang="en-US" sz="12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обновлении</a:t>
            </a:r>
            <a:r>
              <a:rPr lang="en-US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выдается </a:t>
            </a:r>
            <a:r>
              <a:rPr lang="en-US" sz="12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7" name="Image 3" descr="/home/claude/icon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166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входа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45920" y="5257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2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осле</a:t>
            </a:r>
            <a:r>
              <a:rPr lang="en-US" sz="12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серии неудачных попыток входа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17920" y="155448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4E2E1"/>
            </a:solidFill>
            <a:prstDash val="solid"/>
          </a:ln>
          <a:effectLst>
            <a:outerShdw blurRad="114300" dist="38100" dir="5400000" algn="bl" rotWithShape="0">
              <a:srgbClr val="0A3B4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35844" y="1874520"/>
            <a:ext cx="777240" cy="777240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2" name="Image 4" descr="/home/claude/icons/ic_depl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529" y="206883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71061" y="19431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300" b="1" dirty="0">
                <a:solidFill>
                  <a:srgbClr val="0A4D52"/>
                </a:solidFill>
                <a:latin typeface="Georgia" pitchFamily="34" charset="0"/>
              </a:rPr>
              <a:t>Развертывание</a:t>
            </a:r>
            <a:endParaRPr lang="en-US" sz="2300" dirty="0"/>
          </a:p>
        </p:txBody>
      </p:sp>
      <p:sp>
        <p:nvSpPr>
          <p:cNvPr id="24" name="Shape 17"/>
          <p:cNvSpPr/>
          <p:nvPr/>
        </p:nvSpPr>
        <p:spPr>
          <a:xfrm>
            <a:off x="6537960" y="3218688"/>
            <a:ext cx="566928" cy="566928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5" name="Image 5" descr="/home/claude/icons/ic_depl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692" y="3360420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69480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237476" y="3342835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контейнеров платформы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37960" y="4453128"/>
            <a:ext cx="566928" cy="566928"/>
          </a:xfrm>
          <a:prstGeom prst="ellipse">
            <a:avLst/>
          </a:prstGeom>
          <a:solidFill>
            <a:srgbClr val="E4F0EF"/>
          </a:solidFill>
          <a:ln/>
        </p:spPr>
      </p:sp>
      <p:pic>
        <p:nvPicPr>
          <p:cNvPr id="29" name="Image 6" descr="/home/claude/icons/ic_autoscale_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692" y="4594860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6948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Автомасштабирование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7269480" y="4699313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нагрузке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добавляет </a:t>
            </a:r>
            <a:r>
              <a:rPr lang="en-US" sz="13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убирает</a:t>
            </a:r>
            <a:r>
              <a:rPr lang="ru-RU" sz="1300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лишние экземпляры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9536" y="754380"/>
            <a:ext cx="907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93B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Дальнейшая интеграция для пользователей</a:t>
            </a:r>
            <a:endParaRPr lang="en-US" sz="2900" dirty="0">
              <a:solidFill>
                <a:srgbClr val="093B4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" y="2834640"/>
            <a:ext cx="4892944" cy="1828800"/>
          </a:xfrm>
          <a:prstGeom prst="roundRect">
            <a:avLst>
              <a:gd name="adj" fmla="val 5000"/>
            </a:avLst>
          </a:prstGeom>
          <a:solidFill>
            <a:srgbClr val="072E35"/>
          </a:solidFill>
          <a:ln w="12700">
            <a:solidFill>
              <a:srgbClr val="13565C"/>
            </a:solidFill>
            <a:prstDash val="solid"/>
          </a:ln>
          <a:effectLst>
            <a:outerShdw blurRad="889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3090672"/>
            <a:ext cx="566928" cy="566928"/>
          </a:xfrm>
          <a:prstGeom prst="ellipse">
            <a:avLst/>
          </a:prstGeom>
          <a:solidFill>
            <a:srgbClr val="10969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278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37673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Нативный мобильный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" y="4056017"/>
            <a:ext cx="45565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Напрямую по </a:t>
            </a:r>
            <a:r>
              <a:rPr lang="en-US" sz="11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r>
              <a:rPr lang="en-US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протоколу</a:t>
            </a:r>
            <a:r>
              <a:rPr lang="en-US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HTTP/2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96000" y="2834640"/>
            <a:ext cx="5480304" cy="1828800"/>
          </a:xfrm>
          <a:prstGeom prst="roundRect">
            <a:avLst>
              <a:gd name="adj" fmla="val 5000"/>
            </a:avLst>
          </a:prstGeom>
          <a:solidFill>
            <a:srgbClr val="072E35"/>
          </a:solidFill>
          <a:ln w="12700">
            <a:solidFill>
              <a:srgbClr val="13565C"/>
            </a:solidFill>
            <a:prstDash val="solid"/>
          </a:ln>
          <a:effectLst>
            <a:outerShdw blurRad="889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2032" y="3090672"/>
            <a:ext cx="566928" cy="566928"/>
          </a:xfrm>
          <a:prstGeom prst="ellipse">
            <a:avLst/>
          </a:prstGeom>
          <a:solidFill>
            <a:srgbClr val="10969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192" y="32278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2032" y="37673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Веб-клиент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52032" y="4041648"/>
            <a:ext cx="51432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r>
              <a:rPr lang="en-US" sz="1150" dirty="0">
                <a:solidFill>
                  <a:srgbClr val="AE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-Web</a:t>
            </a:r>
            <a:endParaRPr lang="en-US" sz="115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D41D7EDC-B70C-E16F-E75E-FD13BD95276E}"/>
              </a:ext>
            </a:extLst>
          </p:cNvPr>
          <p:cNvSpPr/>
          <p:nvPr/>
        </p:nvSpPr>
        <p:spPr>
          <a:xfrm>
            <a:off x="859536" y="1586484"/>
            <a:ext cx="502920" cy="5486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2568AAE-16D0-E7B8-C42E-EA51B8FDF648}"/>
              </a:ext>
            </a:extLst>
          </p:cNvPr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E10F-58B1-D3FF-D59F-4B6533BB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4CB86FE-D5BD-3C3B-4F21-2088D83D6D90}"/>
              </a:ext>
            </a:extLst>
          </p:cNvPr>
          <p:cNvSpPr/>
          <p:nvPr/>
        </p:nvSpPr>
        <p:spPr>
          <a:xfrm>
            <a:off x="3754176" y="732526"/>
            <a:ext cx="468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5400" b="1" dirty="0">
                <a:solidFill>
                  <a:srgbClr val="093B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5400" dirty="0">
              <a:solidFill>
                <a:srgbClr val="093B41"/>
              </a:solidFill>
            </a:endParaRPr>
          </a:p>
        </p:txBody>
      </p:sp>
      <p:pic>
        <p:nvPicPr>
          <p:cNvPr id="4" name="Рисунок 3" descr="Изображение выглядит как шаблон, Графика, черно-белый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7DA26E9-337C-031A-769C-EB387CAC2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860" y="2207120"/>
            <a:ext cx="4422280" cy="4422280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B4C71EEF-8CFE-5A36-391E-9821CE49941A}"/>
              </a:ext>
            </a:extLst>
          </p:cNvPr>
          <p:cNvSpPr/>
          <p:nvPr/>
        </p:nvSpPr>
        <p:spPr>
          <a:xfrm>
            <a:off x="4736642" y="1955660"/>
            <a:ext cx="27187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u-RU" sz="2000" dirty="0">
                <a:solidFill>
                  <a:srgbClr val="093B41"/>
                </a:solidFill>
                <a:latin typeface="Calibri" pitchFamily="34" charset="0"/>
                <a:cs typeface="Calibri" pitchFamily="34" charset="-120"/>
              </a:rPr>
              <a:t>Ссылка на репозиторий:</a:t>
            </a:r>
            <a:endParaRPr lang="en-US" sz="2000" dirty="0">
              <a:solidFill>
                <a:srgbClr val="093B41"/>
              </a:solidFill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7C3BCF47-011D-5745-DC44-84CEC37662F8}"/>
              </a:ext>
            </a:extLst>
          </p:cNvPr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E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1227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524</Words>
  <Application>Microsoft Macintosh PowerPoint</Application>
  <PresentationFormat>Широкоэкранный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Сервисная платформа хранения данных о медицинских препаратах</dc:title>
  <dc:subject>PptxGenJS Presentation</dc:subject>
  <dc:creator>MedTracker</dc:creator>
  <cp:lastModifiedBy>Vlad Belyavtsev</cp:lastModifiedBy>
  <cp:revision>8</cp:revision>
  <dcterms:created xsi:type="dcterms:W3CDTF">2026-05-20T22:31:39Z</dcterms:created>
  <dcterms:modified xsi:type="dcterms:W3CDTF">2026-06-11T11:26:13Z</dcterms:modified>
</cp:coreProperties>
</file>